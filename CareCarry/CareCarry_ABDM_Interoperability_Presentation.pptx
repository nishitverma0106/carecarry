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CARECARRY · DIGITAL HEALTH INTEROPERABILITY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CareCarry — ABDM-Ready Health</a:t>
            </a:r>
            <a:br/>
            <a:r>
              <a:t>Interoperability Model</a:t>
            </a:r>
          </a:p>
          <a:p>
            <a:pPr>
              <a:spcAft>
                <a:spcPts val="3200"/>
              </a:spcAft>
              <a:defRPr sz="1500">
                <a:solidFill>
                  <a:srgbClr val="94A3B8"/>
                </a:solidFill>
              </a:defRPr>
            </a:pPr>
            <a:r>
              <a:t>A Consent-Driven Patient Health Data Access Layer Connecting Fragmented Clinical Systems</a:t>
            </a:r>
            <a:br/>
            <a:r>
              <a:t>Without Duplicating Hospital Medical Records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Capstone Presentation | Ayushman Bharat Digital Mission (ABDM) &amp; HL7 FHIR Interoperability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the Architecture Changed: From Central EMR to Interoperability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EF4444"/>
                </a:solidFill>
              </a:defRPr>
            </a:pPr>
            <a:r>
              <a:t>❌ OLD MODEL: RE-UPLOAD DATABASE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Redundant Hospital Uploads: </a:t>
            </a:r>
            <a:r>
              <a:rPr b="0">
                <a:solidFill>
                  <a:srgbClr val="94A3B8"/>
                </a:solidFill>
              </a:rPr>
              <a:t>Hospitals already possess advanced HIS/EMRs (Epic, Cerner, Medanta, Apollo). Expecting staff to manually re-upload PDFs to CareCarry creates friction and zero clinical adoption.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Security &amp; Liability Risks: </a:t>
            </a:r>
            <a:r>
              <a:rPr b="0">
                <a:solidFill>
                  <a:srgbClr val="94A3B8"/>
                </a:solidFill>
              </a:rPr>
              <a:t>Storing medical document binaries centrally in MySQL / Cloudinary creates a massive single point of failure and HIPAA/DISHA data liability.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Unmanageable Data Drift: </a:t>
            </a:r>
            <a:r>
              <a:rPr b="0">
                <a:solidFill>
                  <a:srgbClr val="94A3B8"/>
                </a:solidFill>
              </a:rPr>
              <a:t>Once a report is cloned into CareCarry, amendments, addendums, and corrections made in the hospital system are never synchronized.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Wrong Strategic Role: </a:t>
            </a:r>
            <a:r>
              <a:rPr b="0">
                <a:solidFill>
                  <a:srgbClr val="94A3B8"/>
                </a:solidFill>
              </a:rPr>
              <a:t>CareCarry was erroneously positioning itself as a competitor to existing hospital EMRs.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0B981"/>
                </a:solidFill>
              </a:defRPr>
            </a:pPr>
            <a:r>
              <a:t>✔ NEW MODEL: HEALTH DATA ACCESS LAYER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Source of Truth Stays at Hospital: </a:t>
            </a:r>
            <a:r>
              <a:rPr b="0">
                <a:solidFill>
                  <a:srgbClr val="94A3B8"/>
                </a:solidFill>
              </a:rPr>
              <a:t>Participating hospitals (Government, Apollo, Max) retain sovereign custody of their medical records. CareCarry never copies the database.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Zero-Duplication Federated Query: </a:t>
            </a:r>
            <a:r>
              <a:rPr b="0">
                <a:solidFill>
                  <a:srgbClr val="94A3B8"/>
                </a:solidFill>
              </a:rPr>
              <a:t>CareCarry indexes record metadata and references. Clinical documents are streamed on-demand directly from hospital APIs only upon authorized clinician viewing.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Consent &amp; Identity Orchestration: </a:t>
            </a:r>
            <a:r>
              <a:rPr b="0">
                <a:solidFill>
                  <a:srgbClr val="94A3B8"/>
                </a:solidFill>
              </a:rPr>
              <a:t>CareCarry handles patient matching, identity linkage, and dynamic clinician access tokens—the hard interoperability problem.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Complementary, Not Competitive: </a:t>
            </a:r>
            <a:r>
              <a:rPr b="0">
                <a:solidFill>
                  <a:srgbClr val="94A3B8"/>
                </a:solidFill>
              </a:rPr>
              <a:t>CareCarry connects healthcare systems rather than trying to replace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National Health Integration: ABHA Identity vs. CareCarry App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B82F6"/>
                </a:solidFill>
              </a:defRPr>
            </a:pPr>
            <a:r>
              <a:t>1. ABHA ID (National Identity)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Authoritative Ecosystem: </a:t>
            </a:r>
            <a:r>
              <a:rPr b="0">
                <a:solidFill>
                  <a:srgbClr val="94A3B8"/>
                </a:solidFill>
              </a:rPr>
              <a:t>Ayushman Bharat Health Account (ABHA) is India's 14-digit national health identifier managed by the National Health Authority (NHA).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Identity Context Only: </a:t>
            </a:r>
            <a:r>
              <a:rPr b="0">
                <a:solidFill>
                  <a:srgbClr val="94A3B8"/>
                </a:solidFill>
              </a:rPr>
              <a:t>Crucial correction: ABHA is NOT a physical card containing PDFs. It provides the digital identity context to find where a citizen's records reside across India.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Example: </a:t>
            </a:r>
            <a:r>
              <a:rPr b="0">
                <a:solidFill>
                  <a:srgbClr val="94A3B8"/>
                </a:solidFill>
              </a:rPr>
              <a:t>91-4521-8890-1234 (Unique National Patient Identifier)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B5CF6"/>
                </a:solidFill>
              </a:defRPr>
            </a:pPr>
            <a:r>
              <a:t>2. CareCarry User ID (App Context)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Application Session Identity: </a:t>
            </a:r>
            <a:r>
              <a:rPr b="0">
                <a:solidFill>
                  <a:srgbClr val="94A3B8"/>
                </a:solidFill>
              </a:rPr>
              <a:t>CareCarry assigns an internal user identity (e.g. CC-7K3QX9AB) for app routing, reception triage tokens, and UI state.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Clear Engineering Separation: </a:t>
            </a:r>
            <a:r>
              <a:rPr b="0">
                <a:solidFill>
                  <a:srgbClr val="94A3B8"/>
                </a:solidFill>
              </a:rPr>
              <a:t>CareCarry ID != ABHA ID. CareCarry does NOT claim to be India's medical identity. It is an interoperability client application.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Identity Mapping: </a:t>
            </a:r>
            <a:r>
              <a:rPr b="0">
                <a:solidFill>
                  <a:srgbClr val="94A3B8"/>
                </a:solidFill>
              </a:rPr>
              <a:t>Mapped securely via the provider_patient_mappings registry in backend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3. Defensible Presentation Claims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Academic Integrity: </a:t>
            </a:r>
            <a:r>
              <a:rPr b="0">
                <a:solidFill>
                  <a:srgbClr val="94A3B8"/>
                </a:solidFill>
              </a:rPr>
              <a:t>We do NOT claim direct production access to live government servers without certified ABDM production keys.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Interoperability Client Model: </a:t>
            </a:r>
            <a:r>
              <a:rPr b="0">
                <a:solidFill>
                  <a:srgbClr val="94A3B8"/>
                </a:solidFill>
              </a:rPr>
              <a:t>CareCarry is built strictly as an ABDM-ready client application following official FHIR R4 and ABDM v0.5 data standards.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Ready for Certification: </a:t>
            </a:r>
            <a:r>
              <a:rPr b="0">
                <a:solidFill>
                  <a:srgbClr val="94A3B8"/>
                </a:solidFill>
              </a:rPr>
              <a:t>Designed to swap mock adapters for real NHA Sandbox endpoints seamlessly.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Complete Multi-Tier System Architecture: Access Layer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TIER 1: CITIZEN / PATIENT PRESENTATION LAYER (CareCarry Web &amp; Mobile)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Patient Portal (Vite + React)  ·  Dynamic QR Consent  ·  Unified Health Timeline  ·  ABHA ID Linking  ·  Live Document Stream 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TIER 2: CARECARRY INTEROPERABILITY GATEWAY (Node.js + Express + MySQL)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Identity Service: Resolves ABHA ID &lt;-&gt; CareCarry ID mapping via provider_patient_mappings</a:t>
            </a:r>
            <a:br/>
            <a:r>
              <a:t>• Consent Manager: Verifies clinician RBAC &amp; token authorization before querying external networks</a:t>
            </a:r>
            <a:br/>
            <a:r>
              <a:t>• Discovery Service: Indexes federated record references (metadata only, zero PDF duplication)</a:t>
            </a:r>
            <a:br/>
            <a:r>
              <a:t>• Streaming Pipeline: Ephemeral document proxy pulling source records on-the-fly without database cloning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728655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TIER 3: INTEROPERABILITY PROTOCOLS (HL7 FHIR R4 + ABDM v0.5 Standards)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FHIR Resource Normalization: Patient  ·  Encounter  ·  Observation (Vitals/Labs)  ·  DiagnosticReport  ·  MedicationRequest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72865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TIER 4: SOVEREIGN HEALTHCARE PROVIDERS (Owners of the Medical Records)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[Node 1] Government District Hospital (District e-Hospital HIS)</a:t>
            </a:r>
            <a:br/>
            <a:r>
              <a:t>[Node 2] Apollo Hospitals Central HIS (Metabolic Panels, 2D Echo Doppler Studies)</a:t>
            </a:r>
            <a:br/>
            <a:r>
              <a:t>[Node 3] Max Healthcare EMR Network (Inpatient Discharge Summaries, Respiratory Regimens)</a:t>
            </a:r>
            <a:br/>
            <a:r>
              <a:t>[Node 4] Diagnostic Laboratory LIS (CBC, Lipid Profiles, Pathology Scans)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Hospital Workflow Without Duplicate Uploads: The Rural Hospital Use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B82F6"/>
                </a:solidFill>
              </a:defRPr>
            </a:pPr>
            <a:r>
              <a:t>Step 1: Patient Visit &amp; ABHA Verification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Citizen Intake: </a:t>
            </a:r>
            <a:r>
              <a:rPr b="0">
                <a:solidFill>
                  <a:srgbClr val="94A3B8"/>
                </a:solidFill>
              </a:rPr>
              <a:t>Patient visits rural Community Health Centre (CHC) or District Hospital.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ABHA Identification: </a:t>
            </a:r>
            <a:r>
              <a:rPr b="0">
                <a:solidFill>
                  <a:srgbClr val="94A3B8"/>
                </a:solidFill>
              </a:rPr>
              <a:t>Patient provides 14-digit ABHA ID or scans hospital registration counter QR.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Zero CareCarry Friction: </a:t>
            </a:r>
            <a:r>
              <a:rPr b="0">
                <a:solidFill>
                  <a:srgbClr val="94A3B8"/>
                </a:solidFill>
              </a:rPr>
              <a:t>Hospital receptionist uses their standard hospital software (e-Hospital). They DO NOT log into CareCarry.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Step 2: Hospital Creates Clinical Record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Physician Consultation: </a:t>
            </a:r>
            <a:r>
              <a:rPr b="0">
                <a:solidFill>
                  <a:srgbClr val="94A3B8"/>
                </a:solidFill>
              </a:rPr>
              <a:t>Government doctor examines patient, enters symptoms, prescribes medications.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Lab &amp; Diagnostic Orders: </a:t>
            </a:r>
            <a:r>
              <a:rPr b="0">
                <a:solidFill>
                  <a:srgbClr val="94A3B8"/>
                </a:solidFill>
              </a:rPr>
              <a:t>Hospital lab inputs CBC blood test results into hospital's internal system.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Local Record Retention: </a:t>
            </a:r>
            <a:r>
              <a:rPr b="0">
                <a:solidFill>
                  <a:srgbClr val="94A3B8"/>
                </a:solidFill>
              </a:rPr>
              <a:t>The medical record resides securely in the Government Hospital's HIS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8B5CF6"/>
                </a:solidFill>
              </a:defRPr>
            </a:pPr>
            <a:r>
              <a:t>Step 3: Interoperability Gateway Indexing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Metadata Registration: </a:t>
            </a:r>
            <a:r>
              <a:rPr b="0">
                <a:solidFill>
                  <a:srgbClr val="94A3B8"/>
                </a:solidFill>
              </a:rPr>
              <a:t>The hospital's interoperability client registers an event reference with CareCarry Gateway.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What CareCarry Stores: </a:t>
            </a:r>
            <a:r>
              <a:rPr b="0">
                <a:solidFill>
                  <a:srgbClr val="94A3B8"/>
                </a:solidFill>
              </a:rPr>
              <a:t>Record ID: LAB-GH-401, Type: LAB_REPORT, Date: 2026-09-28, Source: Govt Hospital.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What CareCarry DOES NOT Store: </a:t>
            </a:r>
            <a:r>
              <a:rPr b="0">
                <a:solidFill>
                  <a:srgbClr val="94A3B8"/>
                </a:solidFill>
              </a:rPr>
              <a:t>Zero PDF or binary file duplicates are stored in CareCarry MySQL.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Step 4: Citizen Opens CareCarry Later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Unified Health Timeline: </a:t>
            </a:r>
            <a:r>
              <a:rPr b="0">
                <a:solidFill>
                  <a:srgbClr val="94A3B8"/>
                </a:solidFill>
              </a:rPr>
              <a:t>Patient opens CareCarry at home or when visiting a specialist in the city.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Chronological View: </a:t>
            </a:r>
            <a:r>
              <a:rPr b="0">
                <a:solidFill>
                  <a:srgbClr val="94A3B8"/>
                </a:solidFill>
              </a:rPr>
              <a:t>Sees 28 Sep 2026: Govt Hospital OPD Consultation + Blood Test.</a:t>
            </a:r>
          </a:p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On-Demand Streaming: </a:t>
            </a:r>
            <a:r>
              <a:rPr b="0">
                <a:solidFill>
                  <a:srgbClr val="94A3B8"/>
                </a:solidFill>
              </a:rPr>
              <a:t>Doctor clicks 'View Report' -&gt; CareCarry pulls file live from source hospital API!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API &amp; Interoperability Architecture: The Integration Adapter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B82F6"/>
                </a:solidFill>
              </a:defRPr>
            </a:pPr>
            <a:r>
              <a:t>INTEGRATION ADAPTER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CareCarry avoids hard-coding hospital-specific API formats through the Adapter Pattern:</a:t>
            </a:r>
            <a:br/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// Unified Provider Interface Contract</a:t>
            </a:r>
          </a:p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interface HealthRecordAdapter {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  patientMatch({ carecarryId, abhaId, phone });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  discoverRecords({ providerMrn, carecarryId });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  fetchDocument({ recordId, sourceRecordId });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// Implemented Concrete Adapters:</a:t>
            </a:r>
          </a:p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• ApolloHisAdapter      -&gt; Apollo Central HIS (REST/JSON)</a:t>
            </a:r>
          </a:p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• MaxEmrAdapter         -&gt; Max Super Specialty (FHIR R4)</a:t>
            </a:r>
          </a:p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• FortisNetAdapter      -&gt; Fortis Clinical Care Network</a:t>
            </a:r>
          </a:p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• GovernmentHisAdapter  -&gt; District e-Hospital System</a:t>
            </a:r>
          </a:p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• AbdmGatewayAdapter    -&gt; National Health Stack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8B5CF6"/>
                </a:solidFill>
              </a:defRPr>
            </a:pPr>
            <a:r>
              <a:t>HL7 FHIR R4 RESOURCE MAPPING</a:t>
            </a:r>
          </a:p>
          <a:p>
            <a:pPr>
              <a:spcAft>
                <a:spcPts val="400"/>
              </a:spcAft>
              <a:defRPr b="1" sz="1100">
                <a:solidFill>
                  <a:srgbClr val="F8FAFC"/>
                </a:solidFill>
              </a:defRPr>
            </a:pPr>
            <a:r>
              <a:t>FHIR Patient: </a:t>
            </a:r>
            <a:r>
              <a:rPr b="0">
                <a:solidFill>
                  <a:srgbClr val="94A3B8"/>
                </a:solidFill>
              </a:rPr>
              <a:t>Canonical citizen demographic profile mapped to ABHA ID and internal user context.</a:t>
            </a:r>
          </a:p>
          <a:p>
            <a:pPr>
              <a:spcAft>
                <a:spcPts val="400"/>
              </a:spcAft>
              <a:defRPr b="1" sz="1100">
                <a:solidFill>
                  <a:srgbClr val="F8FAFC"/>
                </a:solidFill>
              </a:defRPr>
            </a:pPr>
            <a:r>
              <a:t>FHIR Encounter: </a:t>
            </a:r>
            <a:r>
              <a:rPr b="0">
                <a:solidFill>
                  <a:srgbClr val="94A3B8"/>
                </a:solidFill>
              </a:rPr>
              <a:t>Clinical interaction event at Hospital OPD/IPD with token, department, and attending doctor.</a:t>
            </a:r>
          </a:p>
          <a:p>
            <a:pPr>
              <a:spcAft>
                <a:spcPts val="400"/>
              </a:spcAft>
              <a:defRPr b="1" sz="1100">
                <a:solidFill>
                  <a:srgbClr val="F8FAFC"/>
                </a:solidFill>
              </a:defRPr>
            </a:pPr>
            <a:r>
              <a:t>FHIR Observation: </a:t>
            </a:r>
            <a:r>
              <a:rPr b="0">
                <a:solidFill>
                  <a:srgbClr val="94A3B8"/>
                </a:solidFill>
              </a:rPr>
              <a:t>Quantitative lab analytes (e.g. Total Cholesterol 182 mg/dL, LVEF 62%) with LOINC codes.</a:t>
            </a:r>
          </a:p>
          <a:p>
            <a:pPr>
              <a:spcAft>
                <a:spcPts val="400"/>
              </a:spcAft>
              <a:defRPr b="1" sz="1100">
                <a:solidFill>
                  <a:srgbClr val="F8FAFC"/>
                </a:solidFill>
              </a:defRPr>
            </a:pPr>
            <a:r>
              <a:t>FHIR DiagnosticReport: </a:t>
            </a:r>
            <a:r>
              <a:rPr b="0">
                <a:solidFill>
                  <a:srgbClr val="94A3B8"/>
                </a:solidFill>
              </a:rPr>
              <a:t>Radiology impressions, ECG findings, and pathology panels with doctor signatures.</a:t>
            </a:r>
          </a:p>
          <a:p>
            <a:pPr>
              <a:spcAft>
                <a:spcPts val="400"/>
              </a:spcAft>
              <a:defRPr b="1" sz="1100">
                <a:solidFill>
                  <a:srgbClr val="F8FAFC"/>
                </a:solidFill>
              </a:defRPr>
            </a:pPr>
            <a:r>
              <a:t>FHIR MedicationRequest: </a:t>
            </a:r>
            <a:r>
              <a:rPr b="0">
                <a:solidFill>
                  <a:srgbClr val="94A3B8"/>
                </a:solidFill>
              </a:rPr>
              <a:t>Structured prescription items with drug dosage, duration, and frequency instructions.</a:t>
            </a:r>
          </a:p>
          <a:p>
            <a:pPr>
              <a:spcAft>
                <a:spcPts val="400"/>
              </a:spcAft>
              <a:defRPr b="1" sz="1100">
                <a:solidFill>
                  <a:srgbClr val="F8FAFC"/>
                </a:solidFill>
              </a:defRPr>
            </a:pPr>
            <a:r>
              <a:t>FHIR DocumentReference: </a:t>
            </a:r>
            <a:r>
              <a:rPr b="0">
                <a:solidFill>
                  <a:srgbClr val="94A3B8"/>
                </a:solidFill>
              </a:rPr>
              <a:t>Standardized metadata pointer pointing to the source hospital document 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Patient Dashboard: Unified Health Timeline &amp; On-Demand Document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UNIFIED HEALTH TIMELINE (FRONTEND)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Chronological Aggregation: </a:t>
            </a:r>
            <a:r>
              <a:rPr b="0">
                <a:solidFill>
                  <a:srgbClr val="94A3B8"/>
                </a:solidFill>
              </a:rPr>
              <a:t>Consolidates consultations, lab reports, imaging studies, and prescriptions across all visited hospitals into a unified interactive feed.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Provider Attribution: </a:t>
            </a:r>
            <a:r>
              <a:rPr b="0">
                <a:solidFill>
                  <a:srgbClr val="94A3B8"/>
                </a:solidFill>
              </a:rPr>
              <a:t>Each encounter clearly displays originating hospital badges (e.g. Apollo Hospitals Central, Max Healthcare, District Hospital).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Structured Clinical Data: </a:t>
            </a:r>
            <a:r>
              <a:rPr b="0">
                <a:solidFill>
                  <a:srgbClr val="94A3B8"/>
                </a:solidFill>
              </a:rPr>
              <a:t>Displays diagnoses, vitals, prescriptions, and official hospital discharge summaries.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Dynamic Consent Badging: </a:t>
            </a:r>
            <a:r>
              <a:rPr b="0">
                <a:solidFill>
                  <a:srgbClr val="94A3B8"/>
                </a:solidFill>
              </a:rPr>
              <a:t>Highlights active clinician access grants with instant patient revocation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ZERO-DUPLICATION STREAMING VIEWER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Clinician Requests View: </a:t>
            </a:r>
            <a:r>
              <a:rPr b="0">
                <a:solidFill>
                  <a:srgbClr val="94A3B8"/>
                </a:solidFill>
              </a:rPr>
              <a:t>Doctor clicks 'Fetch from Source HIS' in PatientClinicalView.jsx.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Gateway Authorization Check: </a:t>
            </a:r>
            <a:r>
              <a:rPr b="0">
                <a:solidFill>
                  <a:srgbClr val="94A3B8"/>
                </a:solidFill>
              </a:rPr>
              <a:t>CareCarry verifies attending doctor's JWT credentials and patient's active consent grant.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Secure API Pipeline: </a:t>
            </a:r>
            <a:r>
              <a:rPr b="0">
                <a:solidFill>
                  <a:srgbClr val="94A3B8"/>
                </a:solidFill>
              </a:rPr>
              <a:t>CareCarry initiates authorized HTTPS request to source hospital's HIS adapter.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Ephemeral Payload Delivery: </a:t>
            </a:r>
            <a:r>
              <a:rPr b="0">
                <a:solidFill>
                  <a:srgbClr val="94A3B8"/>
                </a:solidFill>
              </a:rPr>
              <a:t>Clinical document (lab metrics, 2D echo findings, discharge course) is streamed live to UI.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• Zero Database Persistence: </a:t>
            </a:r>
            <a:r>
              <a:rPr b="0">
                <a:solidFill>
                  <a:srgbClr val="94A3B8"/>
                </a:solidFill>
              </a:rPr>
              <a:t>Document is rendered in memory and dismissed. CareCarry saves 0 copies to MySQL or Cloudinary.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College Prototype vs. Production Architecture: Honest Technical Distinction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🎓 CURRENT COLLEGE PROTOTYPE (IMPLEMENTED)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✔ Simulated ABDM &amp; HIS Adapters: </a:t>
            </a:r>
            <a:r>
              <a:rPr b="0">
                <a:solidFill>
                  <a:srgbClr val="94A3B8"/>
                </a:solidFill>
              </a:rPr>
              <a:t>ApolloHisAdapter, MaxEmrAdapter, FortisNetAdapter, and AbdmGatewayAdapter implemented in Node.js.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✔ Real Zero-Duplication Streaming: </a:t>
            </a:r>
            <a:r>
              <a:rPr b="0">
                <a:solidFill>
                  <a:srgbClr val="94A3B8"/>
                </a:solidFill>
              </a:rPr>
              <a:t>Full on-demand streaming engine with live lab/cardio document payloads running on port 5000.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✔ Dual Identity Model: </a:t>
            </a:r>
            <a:r>
              <a:rPr b="0">
                <a:solidFill>
                  <a:srgbClr val="94A3B8"/>
                </a:solidFill>
              </a:rPr>
              <a:t>CareCarry ID (CC-XXXX) mapped with National ABHA ID (91-XXXX) in MySQL schema.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✔ Clinical Command Center: </a:t>
            </a:r>
            <a:r>
              <a:rPr b="0">
                <a:solidFill>
                  <a:srgbClr val="94A3B8"/>
                </a:solidFill>
              </a:rPr>
              <a:t>Live OPD triage queue, department load routing, lab ordering, pharmacy dispensing, and discharge summary.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✔ Automated Test Verification: </a:t>
            </a:r>
            <a:r>
              <a:rPr b="0">
                <a:solidFill>
                  <a:srgbClr val="94A3B8"/>
                </a:solidFill>
              </a:rPr>
              <a:t>100% test pass on test-interoperability.js, test-hospital-ops.js, and test-e2e.js.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B82F6"/>
                </a:solidFill>
              </a:defRPr>
            </a:pPr>
            <a:r>
              <a:t>🚀 FUTURE PRODUCTION ROADMAP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➔ Official NHA Sandbox Integration: </a:t>
            </a:r>
            <a:r>
              <a:rPr b="0">
                <a:solidFill>
                  <a:srgbClr val="94A3B8"/>
                </a:solidFill>
              </a:rPr>
              <a:t>Onboard onto National Health Authority (NHA) Sandbox with official client_id &amp; client_secret.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➔ ABDM Milestone 1 - 3 Compliance: </a:t>
            </a:r>
            <a:r>
              <a:rPr b="0">
                <a:solidFill>
                  <a:srgbClr val="94A3B8"/>
                </a:solidFill>
              </a:rPr>
              <a:t>Milestone 1: ABHA creation/verification; Milestone 2: HIP (Health Information Provider); Milestone 3: HIU (Health Information User).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➔ Public Key Encryption (PKI): </a:t>
            </a:r>
            <a:r>
              <a:rPr b="0">
                <a:solidFill>
                  <a:srgbClr val="94A3B8"/>
                </a:solidFill>
              </a:rPr>
              <a:t>Diffie-Hellman key exchange for end-to-end encrypted health data flows between hospital gateway and patient device.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➔ DISHA &amp; DPDP Act Compliance: </a:t>
            </a:r>
            <a:r>
              <a:rPr b="0">
                <a:solidFill>
                  <a:srgbClr val="94A3B8"/>
                </a:solidFill>
              </a:rPr>
              <a:t>Full adherence to India's Digital Personal Data Protection (DPDP) Act 2023 for consent artifact management.</a:t>
            </a:r>
          </a:p>
          <a:p>
            <a:pPr>
              <a:spcAft>
                <a:spcPts val="500"/>
              </a:spcAft>
              <a:defRPr b="1" sz="1100">
                <a:solidFill>
                  <a:srgbClr val="F8FAFC"/>
                </a:solidFill>
              </a:defRPr>
            </a:pPr>
            <a:r>
              <a:t>➔ No Code Rewrites Required: </a:t>
            </a:r>
            <a:r>
              <a:rPr b="0">
                <a:solidFill>
                  <a:srgbClr val="94A3B8"/>
                </a:solidFill>
              </a:rPr>
              <a:t>Thanks to Adapter Pattern, switching from Mock to Production ABDM requires only updating adapter config!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CARECARRY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Conclusion: Why This Model Makes CareCarry Defensible &amp; Meaningful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B82F6"/>
                </a:solidFill>
              </a:defRPr>
            </a:pPr>
            <a:r>
              <a:t>1. The Core Justification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The Real Problem: </a:t>
            </a:r>
            <a:r>
              <a:rPr b="0">
                <a:solidFill>
                  <a:srgbClr val="94A3B8"/>
                </a:solidFill>
              </a:rPr>
              <a:t>Hospitals already possess databases. The core problem is that a patient's records are fragmented across government hospitals, private clinics, and diagnostic labs.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CareCarry's True Purpose: </a:t>
            </a:r>
            <a:r>
              <a:rPr b="0">
                <a:solidFill>
                  <a:srgbClr val="94A3B8"/>
                </a:solidFill>
              </a:rPr>
              <a:t>CareCarry becomes the consent-driven access layer connecting identity, consent, and record discovery into a unified citizen health dashboard.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One-Sentence Definition: </a:t>
            </a:r>
            <a:r>
              <a:rPr b="0">
                <a:solidFill>
                  <a:srgbClr val="94A3B8"/>
                </a:solidFill>
              </a:rPr>
              <a:t>CareCarry is a patient-centric dashboard providing a unified view of a citizen's authorized health records obtained through India's digital health interoperability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2. Defending Tough Questions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Q: Why would a hospital use CareCarry?: </a:t>
            </a:r>
            <a:r>
              <a:rPr b="0">
                <a:solidFill>
                  <a:srgbClr val="94A3B8"/>
                </a:solidFill>
              </a:rPr>
              <a:t>A: They don't need to replace their EMR. CareCarry is an interoperability client that discovers permitted records via approved APIs.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Q: How does this prevent data leaks?: </a:t>
            </a:r>
            <a:r>
              <a:rPr b="0">
                <a:solidFill>
                  <a:srgbClr val="94A3B8"/>
                </a:solidFill>
              </a:rPr>
              <a:t>A: Zero permanent file duplication. CareCarry holds references; source records stay encrypted inside provider databases.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Q: What if hospital formats differ?: </a:t>
            </a:r>
            <a:r>
              <a:rPr b="0">
                <a:solidFill>
                  <a:srgbClr val="94A3B8"/>
                </a:solidFill>
              </a:rPr>
              <a:t>A: The Integration Adapter Pattern normalizes diverse hospital data into standard HL7 FHIR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B5CF6"/>
                </a:solidFill>
              </a:defRPr>
            </a:pPr>
            <a:r>
              <a:t>3. Software Engineering Merit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Real Architectural Depth: </a:t>
            </a:r>
            <a:r>
              <a:rPr b="0">
                <a:solidFill>
                  <a:srgbClr val="94A3B8"/>
                </a:solidFill>
              </a:rPr>
              <a:t>Elevates CareCarry from a trivial 'CRUD file uploader' into a distributed interoperability gateway project.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Production-Ready Design: </a:t>
            </a:r>
            <a:r>
              <a:rPr b="0">
                <a:solidFill>
                  <a:srgbClr val="94A3B8"/>
                </a:solidFill>
              </a:rPr>
              <a:t>Clean separation of concerns: REST API Gateway, Adapter Pattern, RBAC Auth, Identity Mapping, and Longitudinal Timeline UI.</a:t>
            </a:r>
          </a:p>
          <a:p>
            <a:pPr>
              <a:spcAft>
                <a:spcPts val="600"/>
              </a:spcAft>
              <a:defRPr b="1" sz="1100">
                <a:solidFill>
                  <a:srgbClr val="F8FAFC"/>
                </a:solidFill>
              </a:defRPr>
            </a:pPr>
            <a:r>
              <a:t>Proven Implementation: </a:t>
            </a:r>
            <a:r>
              <a:rPr b="0">
                <a:solidFill>
                  <a:srgbClr val="94A3B8"/>
                </a:solidFill>
              </a:rPr>
              <a:t>100% verified working prototype with MySQL database migrations, Node.js gateway, and React frontend.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