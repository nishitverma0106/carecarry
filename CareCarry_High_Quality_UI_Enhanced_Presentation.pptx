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79" y="731520"/>
            <a:ext cx="3931920" cy="5303520"/>
          </a:xfrm>
          <a:prstGeom prst="round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75320" y="1417320"/>
            <a:ext cx="2743200" cy="3886200"/>
          </a:xfrm>
          <a:prstGeom prst="roundRect">
            <a:avLst/>
          </a:prstGeom>
          <a:solidFill>
            <a:srgbClr val="143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1965960"/>
            <a:ext cx="1051560" cy="10515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1975103"/>
            <a:ext cx="105156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10195560" y="2926080"/>
            <a:ext cx="713232" cy="71323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0" y="2935224"/>
            <a:ext cx="713232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QR</a:t>
            </a:r>
          </a:p>
        </p:txBody>
      </p:sp>
      <p:sp>
        <p:nvSpPr>
          <p:cNvPr id="9" name="Oval 8"/>
          <p:cNvSpPr/>
          <p:nvPr/>
        </p:nvSpPr>
        <p:spPr>
          <a:xfrm>
            <a:off x="8549640" y="3977639"/>
            <a:ext cx="713232" cy="7132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3986783"/>
            <a:ext cx="713232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Rx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0" y="4572000"/>
            <a:ext cx="713232" cy="7132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4581144"/>
            <a:ext cx="713232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65208" y="2487168"/>
            <a:ext cx="868680" cy="438912"/>
          </a:xfrm>
          <a:prstGeom prst="line">
            <a:avLst/>
          </a:prstGeom>
          <a:ln w="25400">
            <a:solidFill>
              <a:srgbClr val="478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915400" y="3017520"/>
            <a:ext cx="548640" cy="960119"/>
          </a:xfrm>
          <a:prstGeom prst="line">
            <a:avLst/>
          </a:prstGeom>
          <a:ln w="25400">
            <a:solidFill>
              <a:srgbClr val="478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0378440" y="3639312"/>
            <a:ext cx="155448" cy="932688"/>
          </a:xfrm>
          <a:prstGeom prst="line">
            <a:avLst/>
          </a:prstGeom>
          <a:ln w="25400">
            <a:solidFill>
              <a:srgbClr val="478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1170432"/>
            <a:ext cx="6309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300" b="1">
                <a:solidFill>
                  <a:srgbClr val="FFFFFF"/>
                </a:solidFill>
              </a:defRPr>
            </a:pPr>
            <a:r>
              <a:t>CARECARRY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92024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BAE6FD"/>
                </a:solidFill>
              </a:defRPr>
            </a:pPr>
            <a:r>
              <a:t>Digital Health Record &amp;</a:t>
            </a:r>
            <a:br/>
            <a:r>
              <a:t>Care Coordination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971800"/>
            <a:ext cx="58521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A full-stack working-software model connecting patient identity, hospital records and doctor clinical workflows through secure APIs.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343400"/>
            <a:ext cx="123444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352544"/>
            <a:ext cx="12344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PATIENT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84831" y="4343400"/>
            <a:ext cx="128016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84831" y="4352544"/>
            <a:ext cx="128016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HOSPITAL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4343400"/>
            <a:ext cx="118872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4352544"/>
            <a:ext cx="118872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DOCTOR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343400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4352544"/>
            <a:ext cx="109728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806440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College Project • System Design • UI/UX • APIs • Database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0352" y="647395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CARECARRY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7395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1. Problem &amp; Project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828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AE6FD"/>
                </a:solidFill>
              </a:defRPr>
            </a:pPr>
            <a:r>
              <a:t>WHY CARECARRY?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A1C30"/>
                </a:solidFill>
              </a:defRPr>
            </a:pPr>
            <a:r>
              <a:t>The real-world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166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Medical history can be scattered across different hospitals, labs and personal devices.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Patients who relocate may arrive at a new healthcare location without accessible historical information.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Repeated investigations, missing prescriptions and delayed access to history can reduce continuity of care.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Hospital staff need a reliable identity + encounter workflow before attaching documents.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Doctors should focus on clinical treatment rather than becoming hospital-wide document administrators.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078992"/>
            <a:ext cx="52578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61872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72768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A1C30"/>
                </a:solidFill>
              </a:defRPr>
            </a:pPr>
            <a:r>
              <a:t>How can one patient identity connect authorized records across healthcare workflows?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606040"/>
            <a:ext cx="2057400" cy="196596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81635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FRAGMENTED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3246120"/>
            <a:ext cx="1481328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255263"/>
            <a:ext cx="1481328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</a:defRPr>
            </a:pPr>
            <a:r>
              <a:t>Lab 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3538727"/>
            <a:ext cx="1481328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547871"/>
            <a:ext cx="1481328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</a:defRPr>
            </a:pPr>
            <a:r>
              <a:t>Hospital 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3831335"/>
            <a:ext cx="1481328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840479"/>
            <a:ext cx="1481328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</a:defRPr>
            </a:pPr>
            <a:r>
              <a:t>Prescription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4123944"/>
            <a:ext cx="1481328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4133087"/>
            <a:ext cx="1481328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</a:defRPr>
            </a:pPr>
            <a:r>
              <a:t>Old Report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0" y="3584448"/>
            <a:ext cx="6858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42832" y="2606040"/>
            <a:ext cx="2057400" cy="196596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281635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CARECARRY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3246120"/>
            <a:ext cx="1536192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255263"/>
            <a:ext cx="1536192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CareCarry 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3538727"/>
            <a:ext cx="1536192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547871"/>
            <a:ext cx="1536192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Encounter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3831335"/>
            <a:ext cx="1536192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3840479"/>
            <a:ext cx="1536192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Timeline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123944"/>
            <a:ext cx="1536192" cy="210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4133087"/>
            <a:ext cx="1536192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Authorized access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892040"/>
            <a:ext cx="4873752" cy="822960"/>
          </a:xfrm>
          <a:prstGeom prst="round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5102352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Source design decision: identity ≠ medical record.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0352" y="647395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CARECARRY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7395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2. Proposed Solution &amp; End-to-End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828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AE6FD"/>
                </a:solidFill>
              </a:defRPr>
            </a:pPr>
            <a:r>
              <a:t>SYSTEM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A1C30"/>
                </a:solidFill>
              </a:defRPr>
            </a:pPr>
            <a:r>
              <a:t>CareCarry separates identity, records and clinical responsibilities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1737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17373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57400"/>
            <a:ext cx="1517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PATIENT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50592"/>
            <a:ext cx="1463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Register</a:t>
            </a:r>
            <a:br/>
            <a:r>
              <a:t>CareCarry ID</a:t>
            </a:r>
            <a:br/>
            <a:r>
              <a:t>QR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874519"/>
            <a:ext cx="1737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1874519"/>
            <a:ext cx="17373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2057400"/>
            <a:ext cx="1517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HOSPITAL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50592"/>
            <a:ext cx="1463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Scan / ID</a:t>
            </a:r>
            <a:br/>
            <a:r>
              <a:t>Verify</a:t>
            </a:r>
            <a:br/>
            <a:r>
              <a:t>Encounter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874519"/>
            <a:ext cx="1737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49240" y="1874519"/>
            <a:ext cx="1737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8" y="2057400"/>
            <a:ext cx="1517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DOCTOR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450592"/>
            <a:ext cx="1463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Clinical summary</a:t>
            </a:r>
            <a:br/>
            <a:r>
              <a:t>Consultation</a:t>
            </a:r>
            <a:br/>
            <a:r>
              <a:t>Diagnosis + Rx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1874519"/>
            <a:ext cx="1737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1874519"/>
            <a:ext cx="173736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36407" y="2057400"/>
            <a:ext cx="1517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HOSPITAL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450592"/>
            <a:ext cx="1463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Upload reports</a:t>
            </a:r>
            <a:br/>
            <a:r>
              <a:t>Attach to encounter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04120" y="1874519"/>
            <a:ext cx="1737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04120" y="1874519"/>
            <a:ext cx="173736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13848" y="2057400"/>
            <a:ext cx="1517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PATIENT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450592"/>
            <a:ext cx="1463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Timeline</a:t>
            </a:r>
            <a:br/>
            <a:r>
              <a:t>Reports</a:t>
            </a:r>
            <a:br/>
            <a:r>
              <a:t>Prescription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31720" y="2560320"/>
            <a:ext cx="594359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09160" y="2560320"/>
            <a:ext cx="5943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86600" y="2560320"/>
            <a:ext cx="5943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464040" y="2560320"/>
            <a:ext cx="5943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94360" y="3794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00507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CARE CARRY 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370832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Stable application-level identity. QR represents identity/secure lookup — not the medical history itself.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3794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9432" y="400507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</a:defRPr>
            </a:pPr>
            <a:r>
              <a:t>ENCOUNTER-CENTERED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4370832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Visit context groups consultation, diagnosis, prescription and hospital reports.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47304" y="3794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400507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</a:defRPr>
            </a:pPr>
            <a:r>
              <a:t>CONSENT + 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4370832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Authorization is checked before protected data access; sensitive actions are logged.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47395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CARECARRY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7395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3. System 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828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AE6FD"/>
                </a:solidFill>
              </a:defRPr>
            </a:pPr>
            <a:r>
              <a:t>TECHNICAL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78992"/>
            <a:ext cx="685800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8813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Patient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060704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React + Tailwind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55648" y="1737360"/>
            <a:ext cx="0" cy="34747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37560" y="960120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078992"/>
            <a:ext cx="685800" cy="2286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08813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Hospital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1060704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QR + records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98848" y="1737360"/>
            <a:ext cx="0" cy="34747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80760" y="960120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078992"/>
            <a:ext cx="685800" cy="2286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08813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Doctor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060704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Clinical dashboard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42048" y="1737360"/>
            <a:ext cx="0" cy="34747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23960" y="960120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0" y="1078992"/>
            <a:ext cx="685800" cy="2286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108813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Admin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1060704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Governance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85248" y="1737360"/>
            <a:ext cx="0" cy="34747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417320" y="2084831"/>
            <a:ext cx="9372600" cy="822960"/>
          </a:xfrm>
          <a:prstGeom prst="round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2267712"/>
            <a:ext cx="8915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REST API • Node.js + Express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2542032"/>
            <a:ext cx="8915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BAE6FD"/>
                </a:solidFill>
              </a:defRPr>
            </a:pPr>
            <a:r>
              <a:t>JWT • RBAC • validation • consent • encounter checks • audit middleware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" y="2907792"/>
            <a:ext cx="0" cy="429768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85800" y="3337560"/>
            <a:ext cx="3246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4400" y="3547872"/>
            <a:ext cx="960120" cy="256032"/>
          </a:xfrm>
          <a:prstGeom prst="round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557015"/>
            <a:ext cx="960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977639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1C30"/>
                </a:solidFill>
              </a:defRPr>
            </a:pPr>
            <a:r>
              <a:t>Structured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31596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Patients + CareCarry ID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Encounters + clinical data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Consent + audit metadata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3337560"/>
            <a:ext cx="3246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09160" y="3547872"/>
            <a:ext cx="1234440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3557015"/>
            <a:ext cx="12344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CLOUDINARY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3977639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1C30"/>
                </a:solidFill>
              </a:defRPr>
            </a:pPr>
            <a:r>
              <a:t>Actual medical 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431596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PDF / JPG / PNG reports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Secure file reference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Metadata remains in MySQL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5320" y="3337560"/>
            <a:ext cx="3246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503920" y="3547872"/>
            <a:ext cx="914400" cy="25603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3557015"/>
            <a:ext cx="9144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3977639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1C30"/>
                </a:solidFill>
              </a:defRPr>
            </a:pPr>
            <a:r>
              <a:t>Protected operations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31596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bcrypt + JWT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Role + resource checks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Audit every sensitive 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A1C30"/>
                </a:solidFill>
              </a:defRPr>
            </a:pPr>
            <a:r>
              <a:t>Rule: frontend → API → authorization → data. Frontend never connects directly to MySQL.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0352" y="647395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CARECARRY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47395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4. User Interface Design — Patient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828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AE6FD"/>
                </a:solidFill>
              </a:defRPr>
            </a:pPr>
            <a:r>
              <a:t>UI / UX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A1C30"/>
                </a:solidFill>
              </a:defRPr>
            </a:pPr>
            <a:r>
              <a:t>Patient dashboard — identity, timeline and access at a glance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10972800" cy="38404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952" y="1527048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36192"/>
            <a:ext cx="91440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960120" y="1527048"/>
            <a:ext cx="91440" cy="914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36192"/>
            <a:ext cx="91440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</a:defRPr>
            </a:pPr>
          </a:p>
        </p:txBody>
      </p:sp>
      <p:sp>
        <p:nvSpPr>
          <p:cNvPr id="13" name="Oval 12"/>
          <p:cNvSpPr/>
          <p:nvPr/>
        </p:nvSpPr>
        <p:spPr>
          <a:xfrm>
            <a:off x="1161288" y="1527048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1536192"/>
            <a:ext cx="91440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508760" y="1499616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app.carecarry.local/patient/dashboard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1901952"/>
            <a:ext cx="1874519" cy="3886200"/>
          </a:xfrm>
          <a:prstGeom prst="round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066544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CARECARRY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651760"/>
            <a:ext cx="1691639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2715768"/>
            <a:ext cx="1463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118104"/>
            <a:ext cx="1691639" cy="384048"/>
          </a:xfrm>
          <a:prstGeom prst="round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182112"/>
            <a:ext cx="1463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CareCarry 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584448"/>
            <a:ext cx="1691639" cy="384048"/>
          </a:xfrm>
          <a:prstGeom prst="round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648456"/>
            <a:ext cx="1463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Medical Timeline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050791"/>
            <a:ext cx="1691639" cy="384048"/>
          </a:xfrm>
          <a:prstGeom prst="round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114800"/>
            <a:ext cx="1463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517136"/>
            <a:ext cx="1691639" cy="384048"/>
          </a:xfrm>
          <a:prstGeom prst="round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581144"/>
            <a:ext cx="1463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Prescriptions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983479"/>
            <a:ext cx="1691639" cy="384048"/>
          </a:xfrm>
          <a:prstGeom prst="round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047488"/>
            <a:ext cx="1463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Consent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449823"/>
            <a:ext cx="1691639" cy="384048"/>
          </a:xfrm>
          <a:prstGeom prst="round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513831"/>
            <a:ext cx="1463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Access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20574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A1C30"/>
                </a:solidFill>
              </a:defRPr>
            </a:pPr>
            <a:r>
              <a:t>Good morning, Nishit 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5480" y="2011680"/>
            <a:ext cx="1417320" cy="2743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2020824"/>
            <a:ext cx="141732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PATIENT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88920" y="256032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88920" y="2560320"/>
            <a:ext cx="64008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2670048"/>
            <a:ext cx="1691639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CareCarry 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2907791"/>
            <a:ext cx="1691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A1C30"/>
                </a:solidFill>
              </a:defRPr>
            </a:pPr>
            <a:r>
              <a:t>CC-7K3QX9AB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3246120"/>
            <a:ext cx="16916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Primary identity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2040" y="256032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92040" y="2560320"/>
            <a:ext cx="64008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4920" y="2670048"/>
            <a:ext cx="1691639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Last visit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2907791"/>
            <a:ext cx="1691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A1C30"/>
                </a:solidFill>
              </a:defRPr>
            </a:pPr>
            <a:r>
              <a:t>28 Sep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3246120"/>
            <a:ext cx="16916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ABC Hospital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95160" y="256032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5160" y="2560320"/>
            <a:ext cx="64008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78040" y="2670048"/>
            <a:ext cx="1691639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Reports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2907791"/>
            <a:ext cx="1691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A1C30"/>
                </a:solidFill>
              </a:defRPr>
            </a:pPr>
            <a: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3246120"/>
            <a:ext cx="16916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Stored documents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98280" y="256032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98280" y="2560320"/>
            <a:ext cx="6400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59" y="2670048"/>
            <a:ext cx="1691639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Access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59" y="2907791"/>
            <a:ext cx="1691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A1C30"/>
                </a:solidFill>
              </a:defRPr>
            </a:pPr>
            <a: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9" y="3246120"/>
            <a:ext cx="16916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Recent events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88920" y="370332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71800" y="388620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A1C30"/>
                </a:solidFill>
              </a:defRPr>
            </a:pPr>
            <a:r>
              <a:t>Medical Timeline</a:t>
            </a:r>
          </a:p>
        </p:txBody>
      </p:sp>
      <p:sp>
        <p:nvSpPr>
          <p:cNvPr id="57" name="Oval 56"/>
          <p:cNvSpPr/>
          <p:nvPr/>
        </p:nvSpPr>
        <p:spPr>
          <a:xfrm>
            <a:off x="2971800" y="4297680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71800" y="4306824"/>
            <a:ext cx="14630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00" b="1">
                <a:solidFill>
                  <a:srgbClr val="FFFFFF"/>
                </a:solidFill>
              </a:defRPr>
            </a:pPr>
          </a:p>
        </p:txBody>
      </p:sp>
      <p:sp>
        <p:nvSpPr>
          <p:cNvPr id="59" name="TextBox 58"/>
          <p:cNvSpPr txBox="1"/>
          <p:nvPr/>
        </p:nvSpPr>
        <p:spPr>
          <a:xfrm>
            <a:off x="3200400" y="4279392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28 Sep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1920" y="4279392"/>
            <a:ext cx="3566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Consultation • Diagnosis • Prescription</a:t>
            </a:r>
          </a:p>
        </p:txBody>
      </p:sp>
      <p:sp>
        <p:nvSpPr>
          <p:cNvPr id="61" name="Oval 60"/>
          <p:cNvSpPr/>
          <p:nvPr/>
        </p:nvSpPr>
        <p:spPr>
          <a:xfrm>
            <a:off x="2971800" y="4681728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71800" y="4690872"/>
            <a:ext cx="14630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00" b="1">
                <a:solidFill>
                  <a:srgbClr val="FFFFFF"/>
                </a:solidFill>
              </a:defRPr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3200400" y="4663440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28 Sep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31920" y="4663440"/>
            <a:ext cx="3566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Blood Test Report</a:t>
            </a:r>
          </a:p>
        </p:txBody>
      </p:sp>
      <p:sp>
        <p:nvSpPr>
          <p:cNvPr id="65" name="Oval 64"/>
          <p:cNvSpPr/>
          <p:nvPr/>
        </p:nvSpPr>
        <p:spPr>
          <a:xfrm>
            <a:off x="2971800" y="5065776"/>
            <a:ext cx="146304" cy="14630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71800" y="5074920"/>
            <a:ext cx="14630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00" b="1">
                <a:solidFill>
                  <a:srgbClr val="FFFFFF"/>
                </a:solidFill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3200400" y="5047488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15 Aug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31920" y="5047488"/>
            <a:ext cx="3566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Hospital Visit • Prescription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92440" y="3703320"/>
            <a:ext cx="2971800" cy="1737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21040" y="388620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CareCard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21040" y="4270248"/>
            <a:ext cx="841248" cy="841248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412480" y="4370832"/>
            <a:ext cx="164592" cy="164592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732520" y="4370832"/>
            <a:ext cx="164592" cy="164592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412480" y="4690872"/>
            <a:ext cx="164592" cy="164592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641080" y="4572000"/>
            <a:ext cx="164592" cy="164592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915400" y="4754880"/>
            <a:ext cx="164592" cy="164592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26880" y="427939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C30"/>
                </a:solidFill>
              </a:defRPr>
            </a:pPr>
            <a:r>
              <a:t>CC-7K3QX9AB</a:t>
            </a:r>
            <a:br/>
            <a:r>
              <a:t>Scan at hospital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326880" y="5047488"/>
            <a:ext cx="1143000" cy="2286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0" y="5056631"/>
            <a:ext cx="11430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VIEW CARD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88920" y="5596128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UX principle: identity + history first; protected access requests remain explicit.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30352" y="647395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CARECARRY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89920" y="647395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5. Role-Based UI — Hospital &amp; Doctor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828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AE6FD"/>
                </a:solidFill>
              </a:defRPr>
            </a:pPr>
            <a:r>
              <a:t>UI / UX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A1C30"/>
                </a:solidFill>
              </a:defRPr>
            </a:pPr>
            <a:r>
              <a:t>Two interfaces because the responsibilities are different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960120" cy="24688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55064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HOSPITAL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2763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C30"/>
                </a:solidFill>
              </a:defRPr>
            </a:pPr>
            <a:r>
              <a:t>Medical Records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57400"/>
            <a:ext cx="489204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402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Scan CareCarry QR or enter ID…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221992"/>
            <a:ext cx="868680" cy="2286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231136"/>
            <a:ext cx="8686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SCAN QR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0779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C30"/>
                </a:solidFill>
              </a:defRPr>
            </a:pPr>
            <a:r>
              <a:t>Today's Encounters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37560"/>
            <a:ext cx="489204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01568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Patient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401568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#10231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401568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3 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3392424"/>
            <a:ext cx="530352" cy="20116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3401568"/>
            <a:ext cx="5303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794760"/>
            <a:ext cx="489204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858768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Patient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858768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#10232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858768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1 docs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80" y="3849624"/>
            <a:ext cx="530352" cy="20116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3858768"/>
            <a:ext cx="5303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251960"/>
            <a:ext cx="489204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315968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Patient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315968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#10233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4315968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2 docs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306824"/>
            <a:ext cx="530352" cy="20116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4315968"/>
            <a:ext cx="5303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983480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Primary job: identify patient → create encounter → attach reports → maintain document metadata.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41732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1645920"/>
            <a:ext cx="822960" cy="2468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1655064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DOCTOR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162763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C30"/>
                </a:solidFill>
              </a:defRPr>
            </a:pPr>
            <a:r>
              <a:t>Clinical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210312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C30"/>
                </a:solidFill>
              </a:defRPr>
            </a:pPr>
            <a:r>
              <a:t>Today's Patients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2514600"/>
            <a:ext cx="489204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65392" y="2587752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2596896"/>
            <a:ext cx="2286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2606040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Patient 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32520" y="2606040"/>
            <a:ext cx="914400" cy="20116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2615184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Waiting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29800" y="2606040"/>
            <a:ext cx="1051560" cy="2011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29800" y="2615184"/>
            <a:ext cx="1051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CLINICAL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46520" y="3017520"/>
            <a:ext cx="489204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65392" y="3090672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65392" y="3099815"/>
            <a:ext cx="2286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3108960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Patient 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32520" y="3108960"/>
            <a:ext cx="914400" cy="20116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32520" y="3118103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In consultation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29800" y="3108960"/>
            <a:ext cx="1051560" cy="2011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29800" y="3118103"/>
            <a:ext cx="1051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CLINICAL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46520" y="3520440"/>
            <a:ext cx="489204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565392" y="3593592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65392" y="3602736"/>
            <a:ext cx="2286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3611880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Patient 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32520" y="3611880"/>
            <a:ext cx="914400" cy="20116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32520" y="3621024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Waiting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829800" y="3611880"/>
            <a:ext cx="1051560" cy="2011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29800" y="3621024"/>
            <a:ext cx="1051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CLINICAL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46520" y="4160520"/>
            <a:ext cx="489204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0" y="434340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Clinical summary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0" y="4645152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Previous diagnoses • relevant history • current prescriptions</a:t>
            </a:r>
            <a:br/>
            <a:r>
              <a:t>[ Consultation ] [ Diagnosis ] [ Prescription 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548640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Primary job: clinical evaluation → diagnosis → prescription → follow-up.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30352" y="647395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CARECARRY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89920" y="647395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6. Technical Deep Dive — Data Model &amp;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828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AE6FD"/>
                </a:solidFill>
              </a:defRPr>
            </a:pPr>
            <a: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A1C30"/>
                </a:solidFill>
              </a:defRPr>
            </a:pPr>
            <a:r>
              <a:t>The updated architecture is encounter-centered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48463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A1C30"/>
                </a:solidFill>
              </a:defRPr>
            </a:pPr>
            <a:r>
              <a:t>CORE DATA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600200"/>
            <a:ext cx="1005840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609344"/>
            <a:ext cx="10058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PATIENT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600200"/>
            <a:ext cx="1051560" cy="2286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609344"/>
            <a:ext cx="105156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HOSPITAL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2148840"/>
            <a:ext cx="1828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226771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ENCOUNTER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08760" y="1901952"/>
            <a:ext cx="1005840" cy="246888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429000" y="1901952"/>
            <a:ext cx="1005840" cy="246888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0120" y="2971800"/>
            <a:ext cx="1508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090672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Consultation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2971800"/>
            <a:ext cx="1508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090672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Medical Reports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3886200"/>
            <a:ext cx="1508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005072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7C3AED"/>
                </a:solidFill>
              </a:defRPr>
            </a:pPr>
            <a:r>
              <a:t>Diagnosis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3886200"/>
            <a:ext cx="1508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4005072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</a:defRPr>
            </a:pPr>
            <a:r>
              <a:t>Prescription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691640" y="2651760"/>
            <a:ext cx="1280160" cy="32004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971800" y="2651760"/>
            <a:ext cx="640080" cy="32004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91640" y="3447288"/>
            <a:ext cx="0" cy="438912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11880" y="3447288"/>
            <a:ext cx="0" cy="438912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4754880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MySQL stores structured entities and metadata.</a:t>
            </a:r>
            <a:br/>
            <a:r>
              <a:t>Cloudinary stores actual medical documents.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1417320"/>
            <a:ext cx="5715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62763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A1C30"/>
                </a:solidFill>
              </a:defRPr>
            </a:pPr>
            <a:r>
              <a:t>KEY REST ENDPOINTS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2011680"/>
            <a:ext cx="594360" cy="2103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2020824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2002536"/>
            <a:ext cx="4343400" cy="228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2029968"/>
            <a:ext cx="4069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/api/auth/login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0760" y="2404872"/>
            <a:ext cx="594360" cy="21031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2414016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2395728"/>
            <a:ext cx="4343400" cy="228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2423160"/>
            <a:ext cx="4069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/api/patients/me/timeline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2798064"/>
            <a:ext cx="594360" cy="2103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2807208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66560" y="2788920"/>
            <a:ext cx="4343400" cy="228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2816352"/>
            <a:ext cx="4069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/api/identity/resolve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80760" y="3191256"/>
            <a:ext cx="594360" cy="21031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3200400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66560" y="3182112"/>
            <a:ext cx="4343400" cy="228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3209544"/>
            <a:ext cx="4069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/api/hospitals/encounters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80760" y="3584448"/>
            <a:ext cx="594360" cy="21031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3593592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66560" y="3575304"/>
            <a:ext cx="4343400" cy="228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3602736"/>
            <a:ext cx="4069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/api/hospitals/reports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80760" y="3977640"/>
            <a:ext cx="594360" cy="2103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0760" y="3986784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66560" y="3968496"/>
            <a:ext cx="4343400" cy="228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3995928"/>
            <a:ext cx="4069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/api/doctors/patients/:id/summary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80760" y="4370832"/>
            <a:ext cx="594360" cy="2103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4379976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766560" y="4361688"/>
            <a:ext cx="4343400" cy="228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03720" y="4389120"/>
            <a:ext cx="4069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/api/doctors/prescriptions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80760" y="4764024"/>
            <a:ext cx="594360" cy="21031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0760" y="4773168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766560" y="4754880"/>
            <a:ext cx="4343400" cy="228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03720" y="4782312"/>
            <a:ext cx="4069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/api/access/:id/approve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80760" y="5157216"/>
            <a:ext cx="594360" cy="2103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80760" y="5166359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766560" y="5148072"/>
            <a:ext cx="4343400" cy="228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03720" y="5175503"/>
            <a:ext cx="4069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/api/admin/audit-logs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80760" y="54864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A1C30"/>
                </a:solidFill>
              </a:defRPr>
            </a:pPr>
            <a:r>
              <a:t>Security: JWT → role → ownership/hospital → consent → encounter → action → audit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30352" y="647395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CARECARRY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89920" y="647395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7. Security, Testing &amp; 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828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AE6FD"/>
                </a:solidFill>
              </a:defRPr>
            </a:pPr>
            <a:r>
              <a:t>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A1C30"/>
                </a:solidFill>
              </a:defRPr>
            </a:pPr>
            <a:r>
              <a:t>Protected request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1417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27632"/>
            <a:ext cx="594360" cy="2103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36776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</a:defRPr>
            </a:pPr>
            <a:r>
              <a:t>AUTH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1938528"/>
            <a:ext cx="2286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41448" y="1508760"/>
            <a:ext cx="1417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78608" y="1627632"/>
            <a:ext cx="594360" cy="2103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1636776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193852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</a:defRPr>
            </a:pPr>
            <a:r>
              <a:t>RBAC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58768" y="1938528"/>
            <a:ext cx="2286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88536" y="1508760"/>
            <a:ext cx="1417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25696" y="1627632"/>
            <a:ext cx="594360" cy="2103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1636776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193852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</a:defRPr>
            </a:pPr>
            <a:r>
              <a:t>OWNERSHIP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05855" y="1938528"/>
            <a:ext cx="2286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35623" y="1508760"/>
            <a:ext cx="1417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72783" y="1627632"/>
            <a:ext cx="594360" cy="21031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3" y="1636776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Consent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3" y="193852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</a:defRPr>
            </a:pPr>
            <a:r>
              <a:t>ACCESS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52944" y="1938528"/>
            <a:ext cx="2286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982711" y="1508760"/>
            <a:ext cx="1417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19871" y="1627632"/>
            <a:ext cx="594360" cy="21031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1" y="1636776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Encounter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1" y="193852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</a:defRPr>
            </a:pPr>
            <a:r>
              <a:t>SCOPE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00032" y="1938528"/>
            <a:ext cx="2286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29799" y="1508760"/>
            <a:ext cx="1417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66959" y="1627632"/>
            <a:ext cx="594360" cy="2103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59" y="1636776"/>
            <a:ext cx="594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59" y="193852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</a:defRPr>
            </a:pPr>
            <a:r>
              <a:t>LOG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2788920"/>
            <a:ext cx="52578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0175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A1C30"/>
                </a:solidFill>
              </a:defRPr>
            </a:pPr>
            <a:r>
              <a:t>TESTING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383280"/>
            <a:ext cx="4572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Authentication: valid/invalid login, expired JWT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RBAC: role cannot access forbidden endpoints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Identity: unique CareCarry ID + invalid QR handling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Consent: approve, reject, revoke, expiry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Documents: type/size validation + secure access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Audit: sensitive reads/writes record actor + timestamp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2788920"/>
            <a:ext cx="54406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017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A1C30"/>
                </a:solidFill>
              </a:defRPr>
            </a:pPr>
            <a:r>
              <a:t>BUILD ORDER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3383280"/>
            <a:ext cx="347472" cy="201168"/>
          </a:xfrm>
          <a:prstGeom prst="round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392424"/>
            <a:ext cx="347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392424"/>
            <a:ext cx="4251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Backend + MySQL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3630168"/>
            <a:ext cx="347472" cy="2011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3639312"/>
            <a:ext cx="347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639312"/>
            <a:ext cx="4251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Auth + RBAC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3877056"/>
            <a:ext cx="347472" cy="20116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3886200"/>
            <a:ext cx="347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3886200"/>
            <a:ext cx="4251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CareCarry ID + QR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4123944"/>
            <a:ext cx="347472" cy="20116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133087"/>
            <a:ext cx="347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133087"/>
            <a:ext cx="4251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Hospital encounter + reports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55080" y="4370831"/>
            <a:ext cx="347472" cy="2011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379975"/>
            <a:ext cx="347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379975"/>
            <a:ext cx="4251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Doctor clinical workflow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55080" y="4617719"/>
            <a:ext cx="347472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4626863"/>
            <a:ext cx="347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4626863"/>
            <a:ext cx="4251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Patient timeline + consent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55080" y="4864607"/>
            <a:ext cx="347472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4873751"/>
            <a:ext cx="347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4873751"/>
            <a:ext cx="4251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Admin + audit + E2E tests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5321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A1C30"/>
                </a:solidFill>
              </a:defRPr>
            </a:pPr>
            <a:r>
              <a:t>Engineering goal: demonstrate one complete working loop before adding optional features.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30352" y="647395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CARECARRY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47395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8. Usage, Benefits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828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AE6FD"/>
                </a:solidFill>
              </a:defRPr>
            </a:pPr>
            <a:r>
              <a:t>PROJECT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What CareCarry delivers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874519" cy="1417320"/>
          </a:xfrm>
          <a:prstGeom prst="roundRect">
            <a:avLst/>
          </a:prstGeom>
          <a:solidFill>
            <a:srgbClr val="15314B"/>
          </a:solidFill>
          <a:ln>
            <a:solidFill>
              <a:srgbClr val="2F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121408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Portable identity</a:t>
            </a:r>
            <a:br/>
            <a:r>
              <a:t>Reports + timeline</a:t>
            </a:r>
            <a:br/>
            <a:r>
              <a:t>Consent 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508760"/>
            <a:ext cx="1874519" cy="1417320"/>
          </a:xfrm>
          <a:prstGeom prst="roundRect">
            <a:avLst/>
          </a:prstGeom>
          <a:solidFill>
            <a:srgbClr val="15314B"/>
          </a:solidFill>
          <a:ln>
            <a:solidFill>
              <a:srgbClr val="2F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71907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HOSPITAL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1" y="2121408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Fast identity lookup</a:t>
            </a:r>
            <a:br/>
            <a:r>
              <a:t>Encounter + documents</a:t>
            </a:r>
            <a:br/>
            <a:r>
              <a:t>Record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508760"/>
            <a:ext cx="1874519" cy="1417320"/>
          </a:xfrm>
          <a:prstGeom prst="roundRect">
            <a:avLst/>
          </a:prstGeom>
          <a:solidFill>
            <a:srgbClr val="15314B"/>
          </a:solidFill>
          <a:ln>
            <a:solidFill>
              <a:srgbClr val="2F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71907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DOCTOR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2121408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Clinical summary</a:t>
            </a:r>
            <a:br/>
            <a:r>
              <a:t>Diagnosis + Rx</a:t>
            </a:r>
            <a:br/>
            <a:r>
              <a:t>Follow-up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508760"/>
            <a:ext cx="1874519" cy="1417320"/>
          </a:xfrm>
          <a:prstGeom prst="roundRect">
            <a:avLst/>
          </a:prstGeom>
          <a:solidFill>
            <a:srgbClr val="15314B"/>
          </a:solidFill>
          <a:ln>
            <a:solidFill>
              <a:srgbClr val="2F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171907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7232" y="2121408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Verification</a:t>
            </a:r>
            <a:br/>
            <a:r>
              <a:t>Audit</a:t>
            </a:r>
            <a:br/>
            <a: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375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BAE6FD"/>
                </a:solidFill>
              </a:defRPr>
            </a:pPr>
            <a:r>
              <a:t>Future enrichment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ABHA interoperability — future option; not claimed as current integration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Multilingual interface + mobile application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Telemedicine and appointment management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Hospital-to-hospital interoperability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Emergency / break-glass access workflow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Advanced analytics and notifications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383280"/>
            <a:ext cx="5074920" cy="2148840"/>
          </a:xfrm>
          <a:prstGeom prst="roundRect">
            <a:avLst/>
          </a:prstGeom>
          <a:solidFill>
            <a:srgbClr val="15314B"/>
          </a:solidFill>
          <a:ln>
            <a:solidFill>
              <a:srgbClr val="2F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657600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FINAL PROJECT DEFINITION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069080"/>
            <a:ext cx="4434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CareCarry = Identity + Medical Records + Encounters + Clinical Workflow + Secure APIs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5230368"/>
            <a:ext cx="2697480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5239512"/>
            <a:ext cx="269748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WORKING SOFTWARE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8076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UI mockups are presentation concepts; the architecture follows the uploaded CareCarry specification.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19088"/>
            <a:ext cx="1115568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47395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CARECARRY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